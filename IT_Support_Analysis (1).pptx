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Spectral ExtraLight"/>
      <p:regular r:id="rId26"/>
      <p:bold r:id="rId27"/>
      <p:italic r:id="rId28"/>
      <p:boldItalic r:id="rId29"/>
    </p:embeddedFont>
    <p:embeddedFont>
      <p:font typeface="Familjen Grotesk"/>
      <p:regular r:id="rId30"/>
      <p:bold r:id="rId31"/>
      <p:italic r:id="rId32"/>
      <p:boldItalic r:id="rId33"/>
    </p:embeddedFont>
    <p:embeddedFont>
      <p:font typeface="Spectral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8" roundtripDataSignature="AMtx7mhruMCXyCeU2FY0gv9yqs9BmhTN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ectralExtraLight-regular.fntdata"/><Relationship Id="rId25" Type="http://schemas.openxmlformats.org/officeDocument/2006/relationships/slide" Target="slides/slide20.xml"/><Relationship Id="rId28" Type="http://schemas.openxmlformats.org/officeDocument/2006/relationships/font" Target="fonts/SpectralExtraLight-italic.fntdata"/><Relationship Id="rId27" Type="http://schemas.openxmlformats.org/officeDocument/2006/relationships/font" Target="fonts/SpectralExtra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ectralExtra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amiljenGrotesk-bold.fntdata"/><Relationship Id="rId30" Type="http://schemas.openxmlformats.org/officeDocument/2006/relationships/font" Target="fonts/FamiljenGrotesk-regular.fntdata"/><Relationship Id="rId11" Type="http://schemas.openxmlformats.org/officeDocument/2006/relationships/slide" Target="slides/slide6.xml"/><Relationship Id="rId33" Type="http://schemas.openxmlformats.org/officeDocument/2006/relationships/font" Target="fonts/FamiljenGrotesk-boldItalic.fntdata"/><Relationship Id="rId10" Type="http://schemas.openxmlformats.org/officeDocument/2006/relationships/slide" Target="slides/slide5.xml"/><Relationship Id="rId32" Type="http://schemas.openxmlformats.org/officeDocument/2006/relationships/font" Target="fonts/FamiljenGrotesk-italic.fntdata"/><Relationship Id="rId13" Type="http://schemas.openxmlformats.org/officeDocument/2006/relationships/slide" Target="slides/slide8.xml"/><Relationship Id="rId35" Type="http://schemas.openxmlformats.org/officeDocument/2006/relationships/font" Target="fonts/Spectral-bold.fntdata"/><Relationship Id="rId12" Type="http://schemas.openxmlformats.org/officeDocument/2006/relationships/slide" Target="slides/slide7.xml"/><Relationship Id="rId34" Type="http://schemas.openxmlformats.org/officeDocument/2006/relationships/font" Target="fonts/Spectral-regular.fntdata"/><Relationship Id="rId15" Type="http://schemas.openxmlformats.org/officeDocument/2006/relationships/slide" Target="slides/slide10.xml"/><Relationship Id="rId37" Type="http://schemas.openxmlformats.org/officeDocument/2006/relationships/font" Target="fonts/Spectral-boldItalic.fntdata"/><Relationship Id="rId14" Type="http://schemas.openxmlformats.org/officeDocument/2006/relationships/slide" Target="slides/slide9.xml"/><Relationship Id="rId36" Type="http://schemas.openxmlformats.org/officeDocument/2006/relationships/font" Target="fonts/Spectral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8639ddb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8639ddb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0ce62e2dc_0_1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0ce62e2dc_0_1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8639ddb3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8639ddb3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0ce62e2dc_0_129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a0ce62e2dc_0_129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a0ce62e2dc_0_12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0ce62e2dc_0_129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g3a0ce62e2dc_0_12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a0ce62e2dc_0_13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a0ce62e2dc_0_130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a0ce62e2dc_0_13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0ce62e2dc_0_13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0ce62e2dc_0_130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a0ce62e2dc_0_130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a0ce62e2dc_0_13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a0ce62e2dc_0_13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a0ce62e2dc_0_13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a0ce62e2dc_0_13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a0ce62e2dc_0_13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a0ce62e2dc_0_13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0ce62e2dc_0_13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a0ce62e2dc_0_13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a0ce62e2dc_0_13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a0ce62e2dc_0_13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a0ce62e2dc_0_13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a0ce62e2dc_0_13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g3a0ce62e2dc_0_13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0ce62e2dc_0_13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a0ce62e2dc_0_13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0ce62e2dc_0_133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a0ce62e2dc_0_13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a0ce62e2dc_0_13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0ce62e2dc_0_13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0ce62e2dc_0_1336"/>
          <p:cNvSpPr txBox="1"/>
          <p:nvPr>
            <p:ph type="title"/>
          </p:nvPr>
        </p:nvSpPr>
        <p:spPr>
          <a:xfrm>
            <a:off x="1605875" y="335300"/>
            <a:ext cx="75381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52" name="Google Shape;52;g3a0ce62e2dc_0_1336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g3a0ce62e2dc_0_1336"/>
          <p:cNvSpPr/>
          <p:nvPr>
            <p:ph idx="2" type="pic"/>
          </p:nvPr>
        </p:nvSpPr>
        <p:spPr>
          <a:xfrm>
            <a:off x="-25" y="2917350"/>
            <a:ext cx="2504400" cy="1668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g3a0ce62e2dc_0_1336"/>
          <p:cNvSpPr/>
          <p:nvPr>
            <p:ph idx="3" type="pic"/>
          </p:nvPr>
        </p:nvSpPr>
        <p:spPr>
          <a:xfrm>
            <a:off x="6057900" y="636250"/>
            <a:ext cx="3086100" cy="24696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g3a0ce62e2dc_0_1336"/>
          <p:cNvSpPr/>
          <p:nvPr>
            <p:ph idx="4" type="pic"/>
          </p:nvPr>
        </p:nvSpPr>
        <p:spPr>
          <a:xfrm>
            <a:off x="6057900" y="3998050"/>
            <a:ext cx="1145400" cy="11454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g3a0ce62e2dc_0_1336"/>
          <p:cNvSpPr txBox="1"/>
          <p:nvPr>
            <p:ph idx="5" type="title"/>
          </p:nvPr>
        </p:nvSpPr>
        <p:spPr>
          <a:xfrm>
            <a:off x="1605875" y="1164200"/>
            <a:ext cx="75381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g3a0ce62e2dc_0_1336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g3a0ce62e2dc_0_1336"/>
          <p:cNvSpPr txBox="1"/>
          <p:nvPr>
            <p:ph idx="6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Mission">
  <p:cSld name="CUSTOM"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0ce62e2dc_0_1345"/>
          <p:cNvSpPr txBox="1"/>
          <p:nvPr>
            <p:ph idx="1" type="body"/>
          </p:nvPr>
        </p:nvSpPr>
        <p:spPr>
          <a:xfrm>
            <a:off x="1746472" y="1569600"/>
            <a:ext cx="4287000" cy="18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1" name="Google Shape;61;g3a0ce62e2dc_0_1345"/>
          <p:cNvSpPr txBox="1"/>
          <p:nvPr>
            <p:ph idx="2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" name="Google Shape;62;g3a0ce62e2dc_0_1345"/>
          <p:cNvSpPr txBox="1"/>
          <p:nvPr>
            <p:ph idx="3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g3a0ce62e2dc_0_1345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g3a0ce62e2dc_0_1345"/>
          <p:cNvSpPr/>
          <p:nvPr>
            <p:ph idx="4" type="pic"/>
          </p:nvPr>
        </p:nvSpPr>
        <p:spPr>
          <a:xfrm>
            <a:off x="-25" y="2896025"/>
            <a:ext cx="1470600" cy="22476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g3a0ce62e2dc_0_1345"/>
          <p:cNvSpPr/>
          <p:nvPr>
            <p:ph idx="5" type="pic"/>
          </p:nvPr>
        </p:nvSpPr>
        <p:spPr>
          <a:xfrm>
            <a:off x="7037800" y="712950"/>
            <a:ext cx="2106300" cy="27105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g3a0ce62e2dc_0_1345"/>
          <p:cNvSpPr/>
          <p:nvPr>
            <p:ph idx="6" type="pic"/>
          </p:nvPr>
        </p:nvSpPr>
        <p:spPr>
          <a:xfrm>
            <a:off x="5323300" y="3423300"/>
            <a:ext cx="17145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g3a0ce62e2dc_0_1345"/>
          <p:cNvSpPr txBox="1"/>
          <p:nvPr>
            <p:ph type="title"/>
          </p:nvPr>
        </p:nvSpPr>
        <p:spPr>
          <a:xfrm>
            <a:off x="1605875" y="335300"/>
            <a:ext cx="75381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TITLE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0ce62e2dc_0_1354"/>
          <p:cNvSpPr txBox="1"/>
          <p:nvPr>
            <p:ph type="title"/>
          </p:nvPr>
        </p:nvSpPr>
        <p:spPr>
          <a:xfrm>
            <a:off x="1605875" y="335300"/>
            <a:ext cx="75381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1pPr>
            <a:lvl2pPr lvl="1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2pPr>
            <a:lvl3pPr lvl="2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3pPr>
            <a:lvl4pPr lvl="3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4pPr>
            <a:lvl5pPr lvl="4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5pPr>
            <a:lvl6pPr lvl="5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6pPr>
            <a:lvl7pPr lvl="6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7pPr>
            <a:lvl8pPr lvl="7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8pPr>
            <a:lvl9pPr lvl="8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600"/>
              <a:buNone/>
              <a:defRPr sz="5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0" name="Google Shape;70;g3a0ce62e2dc_0_1354"/>
          <p:cNvSpPr txBox="1"/>
          <p:nvPr>
            <p:ph idx="2" type="title"/>
          </p:nvPr>
        </p:nvSpPr>
        <p:spPr>
          <a:xfrm>
            <a:off x="1610975" y="1315350"/>
            <a:ext cx="6482700" cy="3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g3a0ce62e2dc_0_1354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" name="Google Shape;72;g3a0ce62e2dc_0_1354"/>
          <p:cNvSpPr txBox="1"/>
          <p:nvPr>
            <p:ph idx="3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g3a0ce62e2dc_0_1354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44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TITLE_36">
    <p:bg>
      <p:bgPr>
        <a:solidFill>
          <a:schemeClr val="lt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0ce62e2dc_0_1360"/>
          <p:cNvSpPr txBox="1"/>
          <p:nvPr>
            <p:ph type="title"/>
          </p:nvPr>
        </p:nvSpPr>
        <p:spPr>
          <a:xfrm>
            <a:off x="1605875" y="335300"/>
            <a:ext cx="75381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76" name="Google Shape;76;g3a0ce62e2dc_0_1360"/>
          <p:cNvSpPr txBox="1"/>
          <p:nvPr>
            <p:ph idx="2" type="title"/>
          </p:nvPr>
        </p:nvSpPr>
        <p:spPr>
          <a:xfrm>
            <a:off x="1605875" y="1087988"/>
            <a:ext cx="75381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9pPr>
          </a:lstStyle>
          <a:p/>
        </p:txBody>
      </p:sp>
      <p:sp>
        <p:nvSpPr>
          <p:cNvPr id="77" name="Google Shape;77;g3a0ce62e2dc_0_1360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g3a0ce62e2dc_0_1360"/>
          <p:cNvSpPr txBox="1"/>
          <p:nvPr>
            <p:ph idx="3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Familjen Grotesk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g3a0ce62e2dc_0_1360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g3a0ce62e2dc_0_1360"/>
          <p:cNvSpPr/>
          <p:nvPr>
            <p:ph idx="4" type="pic"/>
          </p:nvPr>
        </p:nvSpPr>
        <p:spPr>
          <a:xfrm>
            <a:off x="7429500" y="3429000"/>
            <a:ext cx="1714500" cy="171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44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portunities and Challenges">
  <p:cSld name="TITLE_2_1_1_2"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e62e2dc_0_1367"/>
          <p:cNvSpPr txBox="1"/>
          <p:nvPr>
            <p:ph idx="1" type="subTitle"/>
          </p:nvPr>
        </p:nvSpPr>
        <p:spPr>
          <a:xfrm>
            <a:off x="1771200" y="22625"/>
            <a:ext cx="28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g3a0ce62e2dc_0_1367"/>
          <p:cNvSpPr txBox="1"/>
          <p:nvPr>
            <p:ph idx="2" type="subTitle"/>
          </p:nvPr>
        </p:nvSpPr>
        <p:spPr>
          <a:xfrm>
            <a:off x="6207450" y="22625"/>
            <a:ext cx="28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Familjen Grotesk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g3a0ce62e2dc_0_1367"/>
          <p:cNvSpPr txBox="1"/>
          <p:nvPr>
            <p:ph idx="12" type="sldNum"/>
          </p:nvPr>
        </p:nvSpPr>
        <p:spPr>
          <a:xfrm>
            <a:off x="131793" y="1752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Familjen Grotesk"/>
                <a:ea typeface="Familjen Grotesk"/>
                <a:cs typeface="Familjen Grotesk"/>
                <a:sym typeface="Familjen Grotes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pg.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g3a0ce62e2dc_0_1367"/>
          <p:cNvSpPr txBox="1"/>
          <p:nvPr>
            <p:ph type="title"/>
          </p:nvPr>
        </p:nvSpPr>
        <p:spPr>
          <a:xfrm>
            <a:off x="73152" y="340625"/>
            <a:ext cx="89538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g3a0ce62e2dc_0_1367"/>
          <p:cNvSpPr/>
          <p:nvPr>
            <p:ph idx="3" type="pic"/>
          </p:nvPr>
        </p:nvSpPr>
        <p:spPr>
          <a:xfrm>
            <a:off x="4235850" y="3600625"/>
            <a:ext cx="2494800" cy="15429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g3a0ce62e2dc_0_1367"/>
          <p:cNvSpPr/>
          <p:nvPr>
            <p:ph idx="4" type="pic"/>
          </p:nvPr>
        </p:nvSpPr>
        <p:spPr>
          <a:xfrm>
            <a:off x="5748150" y="1121900"/>
            <a:ext cx="3395700" cy="24786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g3a0ce62e2dc_0_1367"/>
          <p:cNvSpPr txBox="1"/>
          <p:nvPr>
            <p:ph idx="5" type="subTitle"/>
          </p:nvPr>
        </p:nvSpPr>
        <p:spPr>
          <a:xfrm>
            <a:off x="170300" y="1466475"/>
            <a:ext cx="3328200" cy="3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0ce62e2dc_0_12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a0ce62e2dc_0_12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a0ce62e2dc_0_12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idx="5" type="title"/>
          </p:nvPr>
        </p:nvSpPr>
        <p:spPr>
          <a:xfrm>
            <a:off x="2057100" y="995375"/>
            <a:ext cx="5029800" cy="531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3000"/>
              <a:t>IT Ticket Support Analysis </a:t>
            </a:r>
            <a:endParaRPr sz="3000"/>
          </a:p>
        </p:txBody>
      </p:sp>
      <p:sp>
        <p:nvSpPr>
          <p:cNvPr id="94" name="Google Shape;94;p1"/>
          <p:cNvSpPr txBox="1"/>
          <p:nvPr>
            <p:ph idx="6" type="subTitle"/>
          </p:nvPr>
        </p:nvSpPr>
        <p:spPr>
          <a:xfrm>
            <a:off x="6734700" y="4499325"/>
            <a:ext cx="2409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300"/>
              <a:t>Presented by: Akhil Chauhan</a:t>
            </a:r>
            <a:endParaRPr sz="13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300"/>
              <a:t>Date: October 23, 2025</a:t>
            </a:r>
            <a:endParaRPr sz="1300"/>
          </a:p>
        </p:txBody>
      </p:sp>
      <p:pic>
        <p:nvPicPr>
          <p:cNvPr descr="Page 3 | Free call photos | Hippopx"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3300" y="2198525"/>
            <a:ext cx="3337400" cy="2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8639ddb3b_0_0"/>
          <p:cNvSpPr txBox="1"/>
          <p:nvPr>
            <p:ph idx="1" type="body"/>
          </p:nvPr>
        </p:nvSpPr>
        <p:spPr>
          <a:xfrm>
            <a:off x="454250" y="815275"/>
            <a:ext cx="7605300" cy="4093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Context: 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Between 2016–2020, ticket volumes in the IT Support system increased significantly, placing greater pressure on agents to resolve issues efficiently while maintaining user satisfaction.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Despite rising workloads, </a:t>
            </a:r>
            <a:r>
              <a:rPr b="1"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resolution times and satisfaction levels</a:t>
            </a:r>
            <a:r>
              <a:rPr b="1" lang="en" sz="1250">
                <a:solidFill>
                  <a:srgbClr val="0E0E0E"/>
                </a:solidFill>
              </a:rPr>
              <a:t>→</a:t>
            </a:r>
            <a:r>
              <a:rPr b="1"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little to no improvement.</a:t>
            </a:r>
            <a:endParaRPr b="1" sz="12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It remained </a:t>
            </a:r>
            <a:r>
              <a:rPr b="1"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unclear</a:t>
            </a:r>
            <a:r>
              <a:rPr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whether performance issues stemmed from:</a:t>
            </a:r>
            <a:endParaRPr sz="12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Manpower gaps</a:t>
            </a:r>
            <a:r>
              <a:rPr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— need to hire more agents,</a:t>
            </a:r>
            <a:endParaRPr sz="12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Skill gaps</a:t>
            </a:r>
            <a:r>
              <a:rPr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— need for training and upskilling OR</a:t>
            </a:r>
            <a:endParaRPr sz="12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Tool/Software limitations</a:t>
            </a:r>
            <a:r>
              <a:rPr lang="en" sz="12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— need for better ticket management systems</a:t>
            </a:r>
            <a:endParaRPr sz="12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98639ddb3b_0_0"/>
          <p:cNvSpPr txBox="1"/>
          <p:nvPr>
            <p:ph type="title"/>
          </p:nvPr>
        </p:nvSpPr>
        <p:spPr>
          <a:xfrm>
            <a:off x="353225" y="278675"/>
            <a:ext cx="87909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— </a:t>
            </a:r>
            <a:r>
              <a:rPr b="1" lang="en" sz="16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Why IT Support Team Struggle to Maintain Speed and Satisfaction</a:t>
            </a:r>
            <a:endParaRPr b="1" sz="16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354175" y="340625"/>
            <a:ext cx="79956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Project Aim </a:t>
            </a:r>
            <a:r>
              <a:rPr b="1" lang="en" sz="1750">
                <a:solidFill>
                  <a:srgbClr val="0E0E0E"/>
                </a:solidFill>
              </a:rPr>
              <a:t>-</a:t>
            </a:r>
            <a:r>
              <a:rPr b="1" lang="en" sz="175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Finding What Drives IT Support Efficiency</a:t>
            </a:r>
            <a:endParaRPr b="1" sz="175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940"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474575" y="954725"/>
            <a:ext cx="60486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E0E0E"/>
                </a:solidFill>
              </a:rPr>
              <a:t>P</a:t>
            </a: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roject analyzes five years of IT support data to identify where improvements or investments are most needed.</a:t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08" name="Google Shape;108;p2"/>
          <p:cNvSpPr txBox="1"/>
          <p:nvPr>
            <p:ph idx="4294967295" type="title"/>
          </p:nvPr>
        </p:nvSpPr>
        <p:spPr>
          <a:xfrm>
            <a:off x="474575" y="2529175"/>
            <a:ext cx="7237200" cy="23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project aims to:</a:t>
            </a:r>
            <a:endParaRPr sz="14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83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🔹 Analyze multi-year IT ticket data to assess performance trends.</a:t>
            </a:r>
            <a:endParaRPr sz="1383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3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83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🔹 Identify key factors influencing agent efficiency and customer satisfaction.</a:t>
            </a:r>
            <a:endParaRPr sz="1383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3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83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🔹 Recommend actionable improvements in </a:t>
            </a:r>
            <a:r>
              <a:rPr b="1" lang="en" sz="1383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People, Process, and Technology.</a:t>
            </a:r>
            <a:endParaRPr b="1" sz="1383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83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83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🔹 Guide management in future </a:t>
            </a:r>
            <a:r>
              <a:rPr b="1" lang="en" sz="1383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training, hiring, and software investment decisions.</a:t>
            </a:r>
            <a:endParaRPr b="1" sz="1383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27197"/>
              <a:buNone/>
            </a:pPr>
            <a:r>
              <a:t/>
            </a:r>
            <a:endParaRPr sz="364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432225" y="2154750"/>
            <a:ext cx="22971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</a:rPr>
              <a:t>OBJECTIVES:</a:t>
            </a:r>
            <a:endParaRPr b="1"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523175" y="406450"/>
            <a:ext cx="2485080" cy="2065500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904175" y="700950"/>
            <a:ext cx="1998600" cy="20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“Automation can resolve up to 22% of IT service-desk tickets at almost zero cost, reducing workload and freeing agents for higher-value tasks.”</a:t>
            </a:r>
            <a:b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338350" y="228600"/>
            <a:ext cx="6298800" cy="48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Understanding the Dataset — IT Support Tickets (2016–2021)</a:t>
            </a:r>
            <a:endParaRPr b="1" sz="16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i="1" sz="1600"/>
          </a:p>
        </p:txBody>
      </p:sp>
      <p:sp>
        <p:nvSpPr>
          <p:cNvPr id="117" name="Google Shape;117;p3"/>
          <p:cNvSpPr txBox="1"/>
          <p:nvPr>
            <p:ph idx="2" type="title"/>
          </p:nvPr>
        </p:nvSpPr>
        <p:spPr>
          <a:xfrm>
            <a:off x="457900" y="1114450"/>
            <a:ext cx="6481500" cy="3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600"/>
              <a:buNone/>
            </a:pPr>
            <a:r>
              <a:rPr b="1" lang="en" sz="148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Key Data Points:</a:t>
            </a:r>
            <a:endParaRPr b="1" sz="14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51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90"/>
              <a:buFont typeface="Arial"/>
              <a:buChar char="●"/>
            </a:pPr>
            <a:r>
              <a:rPr lang="en" sz="1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97,500 IT support tickets from </a:t>
            </a:r>
            <a:r>
              <a:rPr b="1" lang="en" sz="1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2016–2021</a:t>
            </a:r>
            <a:r>
              <a:rPr lang="en" sz="1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covering </a:t>
            </a:r>
            <a:r>
              <a:rPr b="1" lang="en" sz="1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Hardware, Software, System, and Login Access</a:t>
            </a:r>
            <a:r>
              <a:rPr lang="en" sz="1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categories.</a:t>
            </a:r>
            <a:br>
              <a:rPr lang="en" sz="1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5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0"/>
              <a:buFont typeface="Arial"/>
              <a:buChar char="●"/>
            </a:pPr>
            <a:r>
              <a:rPr lang="en" sz="1290">
                <a:solidFill>
                  <a:srgbClr val="000000"/>
                </a:solidFill>
              </a:rPr>
              <a:t>I</a:t>
            </a:r>
            <a:r>
              <a:rPr lang="en" sz="1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ncludes </a:t>
            </a:r>
            <a:r>
              <a:rPr b="1" lang="en" sz="1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resolution time, satisfaction rating, request type, and assigned agent</a:t>
            </a:r>
            <a:r>
              <a:rPr lang="en" sz="1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5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0"/>
              <a:buFont typeface="Arial"/>
              <a:buChar char="●"/>
            </a:pPr>
            <a:r>
              <a:rPr b="1" lang="en" sz="1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 agents</a:t>
            </a:r>
            <a:r>
              <a:rPr lang="en" sz="12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included with derived demographic fields.</a:t>
            </a:r>
            <a:endParaRPr sz="129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195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575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575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575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1956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575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3575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3575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0ce62e2dc_0_1375"/>
          <p:cNvSpPr txBox="1"/>
          <p:nvPr>
            <p:ph type="title"/>
          </p:nvPr>
        </p:nvSpPr>
        <p:spPr>
          <a:xfrm>
            <a:off x="468275" y="155300"/>
            <a:ext cx="5963100" cy="5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Data Cleaning &amp; Preprocessing:</a:t>
            </a:r>
            <a:endParaRPr sz="1600"/>
          </a:p>
        </p:txBody>
      </p:sp>
      <p:sp>
        <p:nvSpPr>
          <p:cNvPr id="123" name="Google Shape;123;g3a0ce62e2dc_0_1375"/>
          <p:cNvSpPr txBox="1"/>
          <p:nvPr>
            <p:ph idx="2" type="title"/>
          </p:nvPr>
        </p:nvSpPr>
        <p:spPr>
          <a:xfrm>
            <a:off x="468275" y="832950"/>
            <a:ext cx="6482700" cy="38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Standardized dates into </a:t>
            </a:r>
            <a:r>
              <a:rPr b="1" lang="en" sz="1300"/>
              <a:t>Year–Quarter</a:t>
            </a:r>
            <a:r>
              <a:rPr lang="en" sz="1300"/>
              <a:t> format for time trend analysis.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Fixed missing/inconsistent entries using Find &amp; Replace and validation rules.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Added new fields such as </a:t>
            </a:r>
            <a:r>
              <a:rPr b="1" lang="en" sz="1300"/>
              <a:t>Efficiency Score</a:t>
            </a:r>
            <a:r>
              <a:rPr lang="en" sz="1300"/>
              <a:t>, and </a:t>
            </a:r>
            <a:r>
              <a:rPr b="1" lang="en" sz="1300"/>
              <a:t>performance categories (High/Normal/Low)</a:t>
            </a:r>
            <a:r>
              <a:rPr lang="en" sz="1300"/>
              <a:t> for analysis.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Data Preparation: 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Categorized agent metrics into High/Normal/Low, created Efficiency Score.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Used Data Validation rule, and Functions like UNIQUE, ISDATE, IF etc. to ensure clean data</a:t>
            </a:r>
            <a:endParaRPr b="1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idx="2" type="title"/>
          </p:nvPr>
        </p:nvSpPr>
        <p:spPr>
          <a:xfrm>
            <a:off x="449550" y="304625"/>
            <a:ext cx="6481500" cy="4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Conducted: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Trend Analysis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Ticket volumes, satisfaction, and resolution times over years/quarters.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Efficiency Analysis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</a:t>
            </a:r>
            <a:r>
              <a:rPr lang="en" sz="1300">
                <a:solidFill>
                  <a:srgbClr val="000000"/>
                </a:solidFill>
              </a:rPr>
              <a:t>T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evaluate team performance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Matrix Analysis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Classified agents into Training, Hiring, or Software Upgrade categories.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Demographic Analysis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Grouped agents by age brackets.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Comparative Performance Analysis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Individual Agents Performance 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Category-wise Analysis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Evaluated KPIs across request categories.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Tools/Technologies: 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both Google Sheets and Microsoft Excel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Pivot Tables, Charts, XLOOKUP/ PERCENTILE /IFS, 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Slicers for interactive filtering 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600"/>
              <a:buNone/>
            </a:pP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13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13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13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13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3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30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  <p:pic>
        <p:nvPicPr>
          <p:cNvPr descr="Free data photos | Hippopx"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8850" y="1800159"/>
            <a:ext cx="2241150" cy="1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8639ddb3b_0_33"/>
          <p:cNvSpPr txBox="1"/>
          <p:nvPr>
            <p:ph idx="2" type="title"/>
          </p:nvPr>
        </p:nvSpPr>
        <p:spPr>
          <a:xfrm>
            <a:off x="456050" y="94747"/>
            <a:ext cx="75381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Analytical Framework — Exploring IT Support Performance</a:t>
            </a:r>
            <a:endParaRPr sz="5100"/>
          </a:p>
        </p:txBody>
      </p:sp>
      <p:sp>
        <p:nvSpPr>
          <p:cNvPr id="135" name="Google Shape;135;g398639ddb3b_0_33"/>
          <p:cNvSpPr txBox="1"/>
          <p:nvPr>
            <p:ph idx="2" type="title"/>
          </p:nvPr>
        </p:nvSpPr>
        <p:spPr>
          <a:xfrm>
            <a:off x="456050" y="525850"/>
            <a:ext cx="77178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core dimensions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analysed: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1️⃣ Ticket Dynamics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Analyzed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ticket trends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categories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severity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identify workload patterns and bottlenecks.</a:t>
            </a:r>
            <a:endParaRPr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2️⃣ Tool &amp; Team Efficiency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Evaluated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software and processes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through trends in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resolution time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satisfaction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efficiency score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Helped determine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investment priorities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software, training, or hiring.</a:t>
            </a:r>
            <a:endParaRPr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3️⃣ Agent Capability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Compared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by age group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assess skill, experience, and workload balance.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1" lang="en" sz="1200">
                <a:solidFill>
                  <a:srgbClr val="000000"/>
                </a:solidFill>
              </a:rPr>
              <a:t> </a:t>
            </a: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Identify which factors — </a:t>
            </a:r>
            <a:r>
              <a:rPr b="1"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issue type, tool effectiveness, or agent capability</a:t>
            </a: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 — most impact overall IT Support performance.</a:t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5" title="Screenshot 2025-10-25 at 6.21.07 PM.png"/>
          <p:cNvPicPr preferRelativeResize="0"/>
          <p:nvPr/>
        </p:nvPicPr>
        <p:blipFill rotWithShape="1">
          <a:blip r:embed="rId3">
            <a:alphaModFix/>
          </a:blip>
          <a:srcRect b="1341" l="1204" r="861" t="2142"/>
          <a:stretch/>
        </p:blipFill>
        <p:spPr>
          <a:xfrm>
            <a:off x="2627499" y="589800"/>
            <a:ext cx="3889000" cy="253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>
            <p:ph idx="2" type="title"/>
          </p:nvPr>
        </p:nvSpPr>
        <p:spPr>
          <a:xfrm>
            <a:off x="414025" y="2976200"/>
            <a:ext cx="8316000" cy="30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Key Insights: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Dominant Category: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issues (40%)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form the largest workload→  top priority for optimization.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 Recurring Problem: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Login Access</a:t>
            </a: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requests (30%)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highly frequent 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Together,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+ Login Access = ~70% of total workload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priority focus areas.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We’ll look at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2 KPIs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(Avg. Satisfaction Rate and Avg. Resolution time</a:t>
            </a:r>
            <a:r>
              <a:rPr lang="en" sz="1200">
                <a:solidFill>
                  <a:srgbClr val="000000"/>
                </a:solidFill>
              </a:rPr>
              <a:t>)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finalise the our decisions.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  <p:sp>
        <p:nvSpPr>
          <p:cNvPr id="142" name="Google Shape;142;p5"/>
          <p:cNvSpPr txBox="1"/>
          <p:nvPr>
            <p:ph type="title"/>
          </p:nvPr>
        </p:nvSpPr>
        <p:spPr>
          <a:xfrm>
            <a:off x="2233675" y="58625"/>
            <a:ext cx="4676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200"/>
              <a:buNone/>
            </a:pPr>
            <a:r>
              <a:rPr b="1" lang="en" sz="17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Ticket Volume by Request Category</a:t>
            </a:r>
            <a:endParaRPr b="1" sz="174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>
            <p:ph idx="2" type="title"/>
          </p:nvPr>
        </p:nvSpPr>
        <p:spPr>
          <a:xfrm>
            <a:off x="471700" y="3002000"/>
            <a:ext cx="8206200" cy="21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Key Insights: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Steady Growth: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Ticket volumes grew consistently from ~3,200 in 2016 to ~7,600 in 2020</a:t>
            </a:r>
            <a:r>
              <a:rPr lang="en" sz="1200">
                <a:solidFill>
                  <a:srgbClr val="000000"/>
                </a:solidFill>
              </a:rPr>
              <a:t>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Sharp Surge (2019–2020):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Significant spike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(~35% increase) in 2019–2020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Operational Pressure: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Higher volumes may strain agent capacity 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Outlook: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the trend continues, scaling workforce or enhancing automation tools will be critical to sustain service quality.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  <p:pic>
        <p:nvPicPr>
          <p:cNvPr id="148" name="Google Shape;148;p6"/>
          <p:cNvPicPr preferRelativeResize="0"/>
          <p:nvPr/>
        </p:nvPicPr>
        <p:blipFill rotWithShape="1">
          <a:blip r:embed="rId3">
            <a:alphaModFix/>
          </a:blip>
          <a:srcRect b="1288" l="629" r="983" t="1064"/>
          <a:stretch/>
        </p:blipFill>
        <p:spPr>
          <a:xfrm>
            <a:off x="2533638" y="433800"/>
            <a:ext cx="4076725" cy="25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 txBox="1"/>
          <p:nvPr>
            <p:ph type="title"/>
          </p:nvPr>
        </p:nvSpPr>
        <p:spPr>
          <a:xfrm>
            <a:off x="2233650" y="23400"/>
            <a:ext cx="4676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200"/>
              <a:buNone/>
            </a:pPr>
            <a:r>
              <a:rPr b="1" lang="en" sz="17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Ticket Volume over the Years</a:t>
            </a:r>
            <a:endParaRPr b="1" sz="174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idx="2" type="title"/>
          </p:nvPr>
        </p:nvSpPr>
        <p:spPr>
          <a:xfrm>
            <a:off x="441900" y="2931425"/>
            <a:ext cx="8260200" cy="2656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Key Insights: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Unexpected Delay in Normal Cases: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 severity tickets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take the longest (avg. 4.66 days)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Prioritized Resolution for Critical Issues: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Urgent cases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resolved fastest, showing effective prioritization.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Balanced Effort in Mid-Tier Issues: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Minor and Major tickets</a:t>
            </a:r>
            <a:r>
              <a:rPr lang="en" sz="1200">
                <a:solidFill>
                  <a:srgbClr val="000000"/>
                </a:solidFill>
              </a:rPr>
              <a:t>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(3.4–3.9 days)</a:t>
            </a:r>
            <a:r>
              <a:rPr lang="en" sz="1200">
                <a:solidFill>
                  <a:srgbClr val="000000"/>
                </a:solidFill>
              </a:rPr>
              <a:t>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reflect moderate handling times.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Correlation Insight: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Higher urgency generally → quicker resolution, but “normal” tickets may be neglected, impacting overall service perception.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  <p:pic>
        <p:nvPicPr>
          <p:cNvPr id="155" name="Google Shape;155;p7"/>
          <p:cNvPicPr preferRelativeResize="0"/>
          <p:nvPr/>
        </p:nvPicPr>
        <p:blipFill rotWithShape="1">
          <a:blip r:embed="rId3">
            <a:alphaModFix/>
          </a:blip>
          <a:srcRect b="2139" l="827" r="1763" t="1493"/>
          <a:stretch/>
        </p:blipFill>
        <p:spPr>
          <a:xfrm>
            <a:off x="2351138" y="418625"/>
            <a:ext cx="4441725" cy="26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/>
          <p:nvPr>
            <p:ph type="title"/>
          </p:nvPr>
        </p:nvSpPr>
        <p:spPr>
          <a:xfrm>
            <a:off x="1808550" y="23400"/>
            <a:ext cx="55269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200"/>
              <a:buNone/>
            </a:pPr>
            <a:r>
              <a:rPr b="1"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Correlation b/w Severity &amp; Avg. Resolution Time</a:t>
            </a:r>
            <a:endParaRPr b="1" sz="164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>
            <p:ph idx="2" type="title"/>
          </p:nvPr>
        </p:nvSpPr>
        <p:spPr>
          <a:xfrm>
            <a:off x="461825" y="2952175"/>
            <a:ext cx="8386800" cy="2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Observations: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Ticket count → a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sharp rise (~35%)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between 2019–2020.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Despite higher workload, </a:t>
            </a: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satisfaction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remained stable (~+0.97%).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Resolution time did </a:t>
            </a:r>
            <a:r>
              <a:rPr b="1"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i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in fact</a:t>
            </a:r>
            <a:r>
              <a:rPr lang="en" sz="1200">
                <a:solidFill>
                  <a:srgbClr val="000000"/>
                </a:solidFill>
              </a:rPr>
              <a:t>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increased (+1.07%), countering the idea of a software upgrade.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Efficiency score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rose ~34%, driven almost entirely by ticket volume growth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Tickets per agent ↑ ~34.9%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between 2019–2020 → workload absorbed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additional staff.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  <p:pic>
        <p:nvPicPr>
          <p:cNvPr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1268" r="1161" t="1603"/>
          <a:stretch/>
        </p:blipFill>
        <p:spPr>
          <a:xfrm>
            <a:off x="2515200" y="537800"/>
            <a:ext cx="4113601" cy="252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>
            <p:ph type="title"/>
          </p:nvPr>
        </p:nvSpPr>
        <p:spPr>
          <a:xfrm>
            <a:off x="2598000" y="32700"/>
            <a:ext cx="3948000" cy="3918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200"/>
              <a:buNone/>
            </a:pPr>
            <a:r>
              <a:rPr b="1" lang="en" sz="1740">
                <a:solidFill>
                  <a:schemeClr val="dk1"/>
                </a:solidFill>
              </a:rPr>
              <a:t>Decision Making for Investment</a:t>
            </a:r>
            <a:endParaRPr b="1" sz="174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>
            <p:ph idx="2" type="title"/>
          </p:nvPr>
        </p:nvSpPr>
        <p:spPr>
          <a:xfrm>
            <a:off x="562650" y="2304200"/>
            <a:ext cx="8018700" cy="3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gents were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upskilled/trained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handle more volume, with no major decline in satisfaction.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resolution time did not drop,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upgrades were unlikely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was absorbed,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hiring more agents is not justified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Now, an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Agent-level analysis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was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done. Decision matrix made.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Frequently pointed to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corrective action.</a:t>
            </a:r>
            <a:r>
              <a:rPr lang="en" sz="1200">
                <a:solidFill>
                  <a:srgbClr val="000000"/>
                </a:solidFill>
              </a:rPr>
              <a:t> </a:t>
            </a:r>
            <a:r>
              <a:rPr lang="en" sz="1200"/>
              <a:t>F</a:t>
            </a:r>
            <a:r>
              <a:rPr lang="en" sz="1200"/>
              <a:t>ewer recommendations for Hiring or Software.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Investments should be directed towards Training/upskilling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not new software or more hires.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  <p:pic>
        <p:nvPicPr>
          <p:cNvPr id="169" name="Google Shape;169;p9"/>
          <p:cNvPicPr preferRelativeResize="0"/>
          <p:nvPr/>
        </p:nvPicPr>
        <p:blipFill rotWithShape="1">
          <a:blip r:embed="rId3">
            <a:alphaModFix/>
          </a:blip>
          <a:srcRect b="2160" l="995" r="1424" t="1379"/>
          <a:stretch/>
        </p:blipFill>
        <p:spPr>
          <a:xfrm>
            <a:off x="2548562" y="0"/>
            <a:ext cx="3954713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idx="2" type="title"/>
          </p:nvPr>
        </p:nvSpPr>
        <p:spPr>
          <a:xfrm>
            <a:off x="438150" y="2583725"/>
            <a:ext cx="8623800" cy="3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Key Insights: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tickets dominate volumes (~40%)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stem-related bottlenecks are the biggest drag on efficiency.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tickets take longest (7.6 days avg</a:t>
            </a:r>
            <a:r>
              <a:rPr b="1" lang="en" sz="1200">
                <a:solidFill>
                  <a:srgbClr val="000000"/>
                </a:solidFill>
              </a:rPr>
              <a:t>)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but are only 10% of total volume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operational burden is smaller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tickets (5.2 days avg, ~20% of volume)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lang="en" sz="1200">
                <a:solidFill>
                  <a:srgbClr val="000000"/>
                </a:solidFill>
              </a:rPr>
              <a:t>No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as numerous</a:t>
            </a:r>
            <a:r>
              <a:rPr b="1" lang="en" sz="1200">
                <a:solidFill>
                  <a:srgbClr val="000000"/>
                </a:solidFill>
              </a:rPr>
              <a:t>,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still a sizeable contributor to delays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Login Access tickets are near-instant (0.3 days, low variability)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This shows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automation works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It sets a benchmark for what is possible.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  <p:sp>
        <p:nvSpPr>
          <p:cNvPr id="175" name="Google Shape;175;p10"/>
          <p:cNvSpPr txBox="1"/>
          <p:nvPr>
            <p:ph type="title"/>
          </p:nvPr>
        </p:nvSpPr>
        <p:spPr>
          <a:xfrm>
            <a:off x="2233663" y="23400"/>
            <a:ext cx="4676700" cy="4104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200"/>
              <a:buNone/>
            </a:pPr>
            <a:r>
              <a:rPr b="1"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Category-Wise Ticket Performance </a:t>
            </a:r>
            <a:endParaRPr b="1" sz="1640"/>
          </a:p>
        </p:txBody>
      </p:sp>
      <p:pic>
        <p:nvPicPr>
          <p:cNvPr id="176" name="Google Shape;1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0414" y="433800"/>
            <a:ext cx="3843175" cy="23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>
            <p:ph idx="2" type="title"/>
          </p:nvPr>
        </p:nvSpPr>
        <p:spPr>
          <a:xfrm>
            <a:off x="448575" y="137175"/>
            <a:ext cx="8299500" cy="5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Satisfaction scores remain stable (~4.1 across categories)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" sz="1200">
                <a:solidFill>
                  <a:srgbClr val="000000"/>
                </a:solidFill>
              </a:rPr>
              <a:t>I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mproving resolution times is likely to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boost efficiency and agent morale, more than customer sentiment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directly.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Insights: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&amp; Software = Top investment priorities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lang="en" sz="1200">
                <a:solidFill>
                  <a:srgbClr val="000000"/>
                </a:solidFill>
              </a:rPr>
              <a:t>L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argest stress points for both agents and operations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 first in System &amp; Software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(automation, process redesign, tool upgrades).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= Secondary investment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" sz="1200">
                <a:solidFill>
                  <a:srgbClr val="000000"/>
                </a:solidFill>
              </a:rPr>
              <a:t>V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olume is lower, but extremely long resolution times</a:t>
            </a:r>
            <a:r>
              <a:rPr lang="en" sz="1200">
                <a:solidFill>
                  <a:srgbClr val="000000"/>
                </a:solidFill>
              </a:rPr>
              <a:t>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damage user trust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Login Access = Model of success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Satisfaction stability is deceptive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Scores look fine now, but as workload stress builds,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 burnout or outlier delays could push satisfaction down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/>
          <p:nvPr>
            <p:ph idx="2" type="title"/>
          </p:nvPr>
        </p:nvSpPr>
        <p:spPr>
          <a:xfrm>
            <a:off x="468450" y="2397175"/>
            <a:ext cx="8416500" cy="2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Findings: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A (20–29 yrs):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Fastest resolution (4.47 days), highest satisfaction (4.23).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Lowest ticket volume (~27k) → efficient but lighter workload.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B (30–39 yrs):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Worst performer: longest resolution time (4.68 days), lowest satisfaction (3.99).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Still handle ~35k tickets →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volume + poor quality = inefficiency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  <p:pic>
        <p:nvPicPr>
          <p:cNvPr id="187" name="Google Shape;187;p12" title="Screenshot 2025-10-25 at 9.29.17 PM.png"/>
          <p:cNvPicPr preferRelativeResize="0"/>
          <p:nvPr/>
        </p:nvPicPr>
        <p:blipFill rotWithShape="1">
          <a:blip r:embed="rId3">
            <a:alphaModFix/>
          </a:blip>
          <a:srcRect b="0" l="0" r="2066" t="2372"/>
          <a:stretch/>
        </p:blipFill>
        <p:spPr>
          <a:xfrm>
            <a:off x="2622324" y="466000"/>
            <a:ext cx="3899350" cy="23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2"/>
          <p:cNvSpPr txBox="1"/>
          <p:nvPr>
            <p:ph type="title"/>
          </p:nvPr>
        </p:nvSpPr>
        <p:spPr>
          <a:xfrm>
            <a:off x="1956900" y="55600"/>
            <a:ext cx="5230200" cy="410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200"/>
              <a:buNone/>
            </a:pPr>
            <a:r>
              <a:rPr b="1"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Analysis by Age Group of Agents</a:t>
            </a:r>
            <a:endParaRPr b="1" sz="164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/>
          <p:nvPr>
            <p:ph idx="2" type="title"/>
          </p:nvPr>
        </p:nvSpPr>
        <p:spPr>
          <a:xfrm>
            <a:off x="472000" y="2316300"/>
            <a:ext cx="8391300" cy="28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C (40–50 yrs):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lphaL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Heaviest workload (~35k tickets).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lphaL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Resolution steady (4.48 days) and satisfaction moderate (4.11) →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 between volume and quality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Insights: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B shows signs of inefficiency/burnout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high workload but weak performance.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A shows promise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fast, high satisfaction but need gradual exposure to more complex cases.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C demonstrates resilience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handling largest share with balanced performance.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  <p:pic>
        <p:nvPicPr>
          <p:cNvPr id="194" name="Google Shape;194;p13" title="Screenshot 2025-10-25 at 9.29.10 PM.png"/>
          <p:cNvPicPr preferRelativeResize="0"/>
          <p:nvPr/>
        </p:nvPicPr>
        <p:blipFill rotWithShape="1">
          <a:blip r:embed="rId3">
            <a:alphaModFix/>
          </a:blip>
          <a:srcRect b="2784" l="1119" r="2374" t="2176"/>
          <a:stretch/>
        </p:blipFill>
        <p:spPr>
          <a:xfrm>
            <a:off x="2713237" y="50975"/>
            <a:ext cx="3717525" cy="23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 txBox="1"/>
          <p:nvPr>
            <p:ph idx="2" type="title"/>
          </p:nvPr>
        </p:nvSpPr>
        <p:spPr>
          <a:xfrm>
            <a:off x="428475" y="684275"/>
            <a:ext cx="6612600" cy="46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Prioritize Training &amp; Upskilling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Efficiency score trends + tickets/agent growth show performance gains came from agents handling more tickets, not faster resolution.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Expand structured training/upskilling programs.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Boosts efficiency, reduces resolution delays, sustains quality without increasing headcount.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Targeted Tech Investments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Category analysis shows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(39k tickets, 6.6 days avg)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(19k tickets, 5.2 days avg)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bottlenecks. Hardware also slow (~7.6 days).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Invest in automation/tech tools for System &amp; Software, replicate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Login Access success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(fastest resolutions).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Lower backlog, reduce variability, improve resolution time consistency.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  <p:sp>
        <p:nvSpPr>
          <p:cNvPr id="200" name="Google Shape;200;p14"/>
          <p:cNvSpPr txBox="1"/>
          <p:nvPr>
            <p:ph type="title"/>
          </p:nvPr>
        </p:nvSpPr>
        <p:spPr>
          <a:xfrm>
            <a:off x="428475" y="164925"/>
            <a:ext cx="4676700" cy="4104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200"/>
              <a:buNone/>
            </a:pPr>
            <a:r>
              <a:rPr b="1" lang="en" sz="17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Strategic Recommendations</a:t>
            </a:r>
            <a:endParaRPr b="1" sz="1740"/>
          </a:p>
        </p:txBody>
      </p:sp>
      <p:pic>
        <p:nvPicPr>
          <p:cNvPr descr="File:Employee training illustration - in person training.jpg ..." id="201" name="Google Shape;2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0500" y="1598345"/>
            <a:ext cx="2468849" cy="1645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/>
          <p:nvPr>
            <p:ph idx="2" type="title"/>
          </p:nvPr>
        </p:nvSpPr>
        <p:spPr>
          <a:xfrm>
            <a:off x="445600" y="492900"/>
            <a:ext cx="7441800" cy="3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Demographic-Specific Interventions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Mid-career agents (30–39 yrs) underperform → longest resolution time, lowest satisfaction, despite handling large workloads.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Provide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focused training + workload rebalancing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this group. Gradually increase workloads for younger agents (20–29 yrs). Support senior agents (40–50 yrs) with tools to sustain heavy ticket volumes.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Balances efficiency across workforce, reduces burnout, maintains service quality.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3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3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3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3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3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30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type="title"/>
          </p:nvPr>
        </p:nvSpPr>
        <p:spPr>
          <a:xfrm>
            <a:off x="2217525" y="102925"/>
            <a:ext cx="4676700" cy="4104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200"/>
              <a:buNone/>
            </a:pPr>
            <a:r>
              <a:rPr b="1" lang="en" sz="17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1" sz="1740"/>
          </a:p>
        </p:txBody>
      </p:sp>
      <p:pic>
        <p:nvPicPr>
          <p:cNvPr id="212" name="Google Shape;2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663" y="694100"/>
            <a:ext cx="6468666" cy="432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>
            <p:ph idx="4294967295" type="title"/>
          </p:nvPr>
        </p:nvSpPr>
        <p:spPr>
          <a:xfrm>
            <a:off x="454075" y="738925"/>
            <a:ext cx="7675500" cy="4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IT support operations show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steady performance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but also reveal clear bottlenecks that impact efficiency and customer experience.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The analysis highlights that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training and upskilling agents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is the strongest lever for driving long-term improvement.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Targeted technology investments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in key areas can further reduce inefficiencies and replicate the success of automation seen in simpler processes.</a:t>
            </a: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Overall, a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combined strategy of capability building and smart tech upgrades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will enable IT support to handle growing ticket volumes effectively, maintain customer satisfaction, and strengthen long-term resilience.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solidFill>
                <a:srgbClr val="000000"/>
              </a:solidFill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latin typeface="Spectral ExtraLight"/>
              <a:ea typeface="Spectral ExtraLight"/>
              <a:cs typeface="Spectral ExtraLight"/>
              <a:sym typeface="Spectral ExtraLight"/>
            </a:endParaRPr>
          </a:p>
        </p:txBody>
      </p:sp>
      <p:sp>
        <p:nvSpPr>
          <p:cNvPr id="218" name="Google Shape;218;p17"/>
          <p:cNvSpPr txBox="1"/>
          <p:nvPr>
            <p:ph idx="4294967295" type="title"/>
          </p:nvPr>
        </p:nvSpPr>
        <p:spPr>
          <a:xfrm>
            <a:off x="454075" y="180525"/>
            <a:ext cx="4676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200"/>
              <a:buNone/>
            </a:pPr>
            <a:r>
              <a:rPr b="1" i="1" lang="en" sz="1740" u="sng"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i="1" sz="1740" u="s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